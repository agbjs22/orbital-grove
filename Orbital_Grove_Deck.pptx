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Orbital Grove is an interactive, physics-inspired simulator for how plant roots grow and take up nutrients in microgravity and partial-gravity environments. It targets the overlap of two Ideathon tracks — space and agriculture — and is grounded in real NASA plant-growth research (Veggie, Advanced Plant Habitat, VEG-04A).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a real, active research gap. NASA's own experiments (Veggie, APH) are still characterizing this behavior — this isn't a solved problem we're re-skinning.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loop is closed: every run always includes an Earth-control comparison, so the output is never a floating number — it's always relative to a known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modeling core that gives the project algorithmic depth beyond a UI wrapper: a single parametrized bias function reproduces Earth, Moon, Mars, and orbital behavior from one equation family.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Naming the exact PDE and tying it to a documented, real phenomenon (water bubbling around ISS roots) is what separates this from a purely cosmetic simulation.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a credibility move, not a hedge. Judges respond better to 'we know exactly why this number is only moderate-confidence' than to an unexplained confident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data/README.md in the repo documents the OSDR source metadata and citation for this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mirrors the live control panel: crop, gravity, medium, moisture, and nutrient density all feed the same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live output values from an actual run of the prototype (Red Romaine Lettuce, 0g, day 18) — not placeholder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Worth calling out explicitly in the demo: this is simpler than the original Python/FastAPI plan, and that's a feature for a hackathon context — zero setup friction for judges to try it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the closing argument slide if pressed for time — it's the six-line version of the whole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Leading with limitations before being asked is the credibility move — keep this tone in the live Q&amp;A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Swap in whatever tunnel/deployment URL is live at demo time — dev tunnels are session-based and can rotate.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SYSTEMS / SIMULATION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8288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3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Orbital Grove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microgravity plant-growth simulator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388620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3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root architecture, nutrient uptake, and expected yield across orbital and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3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partial-gravity environments — for researchers exploring space-based agriculture.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5074920"/>
            <a:ext cx="1975104" cy="384048"/>
          </a:xfrm>
          <a:prstGeom prst="roundRect">
            <a:avLst>
              <a:gd name="adj" fmla="val 50000"/>
            </a:avLst>
          </a:prstGeom>
          <a:solidFill>
            <a:srgbClr val="10262D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5074920"/>
            <a:ext cx="19751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MEDTECH / HEALTHTECH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26664" y="5074920"/>
            <a:ext cx="1744675" cy="384048"/>
          </a:xfrm>
          <a:prstGeom prst="roundRect">
            <a:avLst>
              <a:gd name="adj" fmla="val 50000"/>
            </a:avLst>
          </a:prstGeom>
          <a:solidFill>
            <a:srgbClr val="10262D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26664" y="5074920"/>
            <a:ext cx="17446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99939" y="5074920"/>
            <a:ext cx="1795882" cy="384048"/>
          </a:xfrm>
          <a:prstGeom prst="roundRect">
            <a:avLst>
              <a:gd name="adj" fmla="val 50000"/>
            </a:avLst>
          </a:prstGeom>
          <a:solidFill>
            <a:srgbClr val="10262D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99939" y="5074920"/>
            <a:ext cx="179588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SCIENCE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778240" y="548640"/>
            <a:ext cx="3291840" cy="3291840"/>
          </a:xfrm>
          <a:prstGeom prst="ellipse">
            <a:avLst/>
          </a:prstGeom>
          <a:ln w="15875">
            <a:solidFill>
              <a:srgbClr val="2E57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46920" y="1417320"/>
            <a:ext cx="1554480" cy="1554480"/>
          </a:xfrm>
          <a:prstGeom prst="ellipse">
            <a:avLst/>
          </a:prstGeom>
          <a:solidFill>
            <a:srgbClr val="163740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95560" y="1965960"/>
            <a:ext cx="457200" cy="457200"/>
          </a:xfrm>
          <a:prstGeom prst="ellipse">
            <a:avLst/>
          </a:prstGeom>
          <a:solidFill>
            <a:srgbClr val="6EE7B7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6126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 · zero-install · runs in the browser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6012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3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Growing food beyond Earth is still an open problem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0" cy="0"/>
          </a:xfrm>
          <a:prstGeom prst="line">
            <a:avLst/>
          </a:prstGeom>
          <a:noFill/>
          <a:ln w="12700">
            <a:solidFill>
              <a:srgbClr val="2E5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6035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F3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Long-duration missions — ISS, Mars transit, future lunar bases — need sustainable, in-situ food production, not just resupply.</a:t>
            </a:r>
            <a:endParaRPr lang="en-US" sz="1400" dirty="0"/>
          </a:p>
          <a:p>
            <a:pPr marL="177800" indent="-177800">
              <a:lnSpc>
                <a:spcPts val="2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F3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Earth, roots grow “down” via gravitropism, and nutrients move through soil by gravity-driven convection plus diffusion.</a:t>
            </a:r>
            <a:endParaRPr lang="en-US" sz="1400" dirty="0"/>
          </a:p>
          <a:p>
            <a:pPr marL="177800" indent="-177800">
              <a:lnSpc>
                <a:spcPts val="2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F3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microgravity, gravitropism is essentially absent. Water no longer drains — it forms unpredictable bubbles around the root zone.</a:t>
            </a:r>
            <a:endParaRPr lang="en-US" sz="1400" dirty="0"/>
          </a:p>
          <a:p>
            <a:pPr marL="177800" indent="-177800">
              <a:lnSpc>
                <a:spcPts val="2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F3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NASA's Veggie and Advanced Plant Habitat experiments confirm this is a live, unsolved research problem, not a solved one.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995160" y="1828800"/>
            <a:ext cx="4617720" cy="4160520"/>
          </a:xfrm>
          <a:prstGeom prst="roundRect">
            <a:avLst>
              <a:gd name="adj" fmla="val 1978"/>
            </a:avLst>
          </a:prstGeom>
          <a:solidFill>
            <a:srgbClr val="10262D"/>
          </a:solidFill>
          <a:ln w="9525">
            <a:solidFill>
              <a:srgbClr val="2E5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69480" y="2011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  vs.  MICROGRAVITY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 flipH="1">
            <a:off x="8138160" y="2560320"/>
            <a:ext cx="-502920" cy="283464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8138160" y="2560320"/>
            <a:ext cx="-256032" cy="283464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38160" y="2560320"/>
            <a:ext cx="0" cy="283464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2560320"/>
            <a:ext cx="256032" cy="283464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2560320"/>
            <a:ext cx="502920" cy="283464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55864" y="2395728"/>
            <a:ext cx="164592" cy="164592"/>
          </a:xfrm>
          <a:prstGeom prst="ellipse">
            <a:avLst/>
          </a:prstGeom>
          <a:solidFill>
            <a:srgbClr val="F3F7F8"/>
          </a:solidFill>
          <a:ln/>
        </p:spPr>
      </p:sp>
      <p:sp>
        <p:nvSpPr>
          <p:cNvPr id="15" name="Text 13"/>
          <p:cNvSpPr/>
          <p:nvPr/>
        </p:nvSpPr>
        <p:spPr>
          <a:xfrm>
            <a:off x="7452360" y="54864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gravitropic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(down)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241280" y="2743200"/>
            <a:ext cx="457200" cy="1280160"/>
          </a:xfrm>
          <a:prstGeom prst="line">
            <a:avLst/>
          </a:prstGeom>
          <a:noFill/>
          <a:ln w="22225">
            <a:solidFill>
              <a:srgbClr val="6EE7B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H="1">
            <a:off x="10241280" y="2743200"/>
            <a:ext cx="-457200" cy="1188720"/>
          </a:xfrm>
          <a:prstGeom prst="line">
            <a:avLst/>
          </a:prstGeom>
          <a:noFill/>
          <a:ln w="22225">
            <a:solidFill>
              <a:srgbClr val="6EE7B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41280" y="2743200"/>
            <a:ext cx="137160" cy="1463040"/>
          </a:xfrm>
          <a:prstGeom prst="line">
            <a:avLst/>
          </a:prstGeom>
          <a:noFill/>
          <a:ln w="22225">
            <a:solidFill>
              <a:srgbClr val="6EE7B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H="1">
            <a:off x="10241280" y="2743200"/>
            <a:ext cx="-777240" cy="822960"/>
          </a:xfrm>
          <a:prstGeom prst="line">
            <a:avLst/>
          </a:prstGeom>
          <a:noFill/>
          <a:ln w="22225">
            <a:solidFill>
              <a:srgbClr val="6EE7B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41280" y="2743200"/>
            <a:ext cx="777240" cy="822960"/>
          </a:xfrm>
          <a:prstGeom prst="line">
            <a:avLst/>
          </a:prstGeom>
          <a:noFill/>
          <a:ln w="22225">
            <a:solidFill>
              <a:srgbClr val="6EE7B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58984" y="2578608"/>
            <a:ext cx="164592" cy="164592"/>
          </a:xfrm>
          <a:prstGeom prst="ellipse">
            <a:avLst/>
          </a:prstGeom>
          <a:solidFill>
            <a:srgbClr val="F3F7F8"/>
          </a:solidFill>
          <a:ln/>
        </p:spPr>
      </p:sp>
      <p:sp>
        <p:nvSpPr>
          <p:cNvPr id="22" name="Text 20"/>
          <p:cNvSpPr/>
          <p:nvPr/>
        </p:nvSpPr>
        <p:spPr>
          <a:xfrm>
            <a:off x="9326880" y="5486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hydrotropic + contact-driven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(spreading)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2E5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ORBITAL GROVE · MICROGRAVITY SIMULATOR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6012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3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interactive simulator, not a static report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0" cy="0"/>
          </a:xfrm>
          <a:prstGeom prst="line">
            <a:avLst/>
          </a:prstGeom>
          <a:noFill/>
          <a:ln w="12700">
            <a:solidFill>
              <a:srgbClr val="2E5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3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researcher sets experiment parameters, runs the study, and gets an animated, quantified prediction of how that setup would behave off-Earth — compared directly against an Earth-normal control.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3474720" cy="3108960"/>
          </a:xfrm>
          <a:prstGeom prst="roundRect">
            <a:avLst>
              <a:gd name="adj" fmla="val 2647"/>
            </a:avLst>
          </a:prstGeom>
          <a:solidFill>
            <a:srgbClr val="10262D"/>
          </a:solidFill>
          <a:ln w="9525">
            <a:solidFill>
              <a:srgbClr val="2E5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3108960"/>
            <a:ext cx="640080" cy="640080"/>
          </a:xfrm>
          <a:prstGeom prst="ellipse">
            <a:avLst/>
          </a:prstGeom>
          <a:solidFill>
            <a:srgbClr val="0A1A1F"/>
          </a:solidFill>
          <a:ln w="22225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38862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parameters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44805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Crop, growth medium, moisture %, nutrient density, gravity condition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041648" y="4160520"/>
            <a:ext cx="283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343400" y="2788920"/>
            <a:ext cx="3474720" cy="3108960"/>
          </a:xfrm>
          <a:prstGeom prst="roundRect">
            <a:avLst>
              <a:gd name="adj" fmla="val 2647"/>
            </a:avLst>
          </a:prstGeom>
          <a:solidFill>
            <a:srgbClr val="163740"/>
          </a:solidFill>
          <a:ln w="9525">
            <a:solidFill>
              <a:srgbClr val="2E57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3108960"/>
            <a:ext cx="640080" cy="640080"/>
          </a:xfrm>
          <a:prstGeom prst="ellipse">
            <a:avLst/>
          </a:prstGeom>
          <a:solidFill>
            <a:srgbClr val="0A1A1F"/>
          </a:solidFill>
          <a:ln w="22225">
            <a:solidFill>
              <a:srgbClr val="6EE7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38862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Simulate growth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63440" y="44805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Biased-growth root model + Fick's-law diffusion field, stepped over days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836408" y="4160520"/>
            <a:ext cx="283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138160" y="2788920"/>
            <a:ext cx="3474720" cy="3108960"/>
          </a:xfrm>
          <a:prstGeom prst="roundRect">
            <a:avLst>
              <a:gd name="adj" fmla="val 2647"/>
            </a:avLst>
          </a:prstGeom>
          <a:solidFill>
            <a:srgbClr val="10262D"/>
          </a:solidFill>
          <a:ln w="9525">
            <a:solidFill>
              <a:srgbClr val="2E57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58200" y="3108960"/>
            <a:ext cx="640080" cy="640080"/>
          </a:xfrm>
          <a:prstGeom prst="ellipse">
            <a:avLst/>
          </a:prstGeom>
          <a:solidFill>
            <a:srgbClr val="0A1A1F"/>
          </a:solidFill>
          <a:ln w="22225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5820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58200" y="38862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study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458200" y="44805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Viability score, biomass estimate, root stats, Earth-control comparison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2E5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ORBITAL GROVE · MICROGRAVITY SIMULATOR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6012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SCIENCE 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3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growth: from gravitropism to hydrotropism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0" cy="0"/>
          </a:xfrm>
          <a:prstGeom prst="line">
            <a:avLst/>
          </a:prstGeom>
          <a:noFill/>
          <a:ln w="12700">
            <a:solidFill>
              <a:srgbClr val="2E5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59436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95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F3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root models bias growth toward the gravity vector. That signal nearly disappears above the ISS's residual ~10⁻⁶ g.</a:t>
            </a:r>
            <a:endParaRPr lang="en-US" sz="1350" dirty="0"/>
          </a:p>
          <a:p>
            <a:pPr marL="177800" indent="-177800">
              <a:lnSpc>
                <a:spcPts val="195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F3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Orbital Grove replaces it with a biased random-walk / L-system model, where direction is a weighted function of three cues instead of one.</a:t>
            </a:r>
            <a:endParaRPr lang="en-US" sz="1350" dirty="0"/>
          </a:p>
          <a:p>
            <a:pPr marL="177800" indent="-177800">
              <a:lnSpc>
                <a:spcPts val="195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F3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Hydrotropism — bias toward higher local moisture concentration.</a:t>
            </a:r>
            <a:endParaRPr lang="en-US" sz="1350" dirty="0"/>
          </a:p>
          <a:p>
            <a:pPr marL="177800" indent="-177800">
              <a:lnSpc>
                <a:spcPts val="195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F3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Thigmotropism — bias along physical contact surfaces (substrate particles, container walls).</a:t>
            </a:r>
            <a:endParaRPr lang="en-US" sz="1350" dirty="0"/>
          </a:p>
          <a:p>
            <a:pPr marL="177800" indent="-177800">
              <a:lnSpc>
                <a:spcPts val="195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F3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tunable residual-gravity weight lets the same model represent every environment on a single spectrum.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903720" y="1828800"/>
            <a:ext cx="4709160" cy="4160520"/>
          </a:xfrm>
          <a:prstGeom prst="roundRect">
            <a:avLst>
              <a:gd name="adj" fmla="val 1978"/>
            </a:avLst>
          </a:prstGeom>
          <a:solidFill>
            <a:srgbClr val="10262D"/>
          </a:solidFill>
          <a:ln w="9525">
            <a:solidFill>
              <a:srgbClr val="2E5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78040" y="2011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GRAVITY WEIGHTING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78040" y="25146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83880" y="25146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Orbital (ISS)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784080" y="2642616"/>
            <a:ext cx="1737360" cy="201168"/>
          </a:xfrm>
          <a:prstGeom prst="roundRect">
            <a:avLst>
              <a:gd name="adj" fmla="val 22727"/>
            </a:avLst>
          </a:prstGeom>
          <a:solidFill>
            <a:srgbClr val="163740"/>
          </a:solidFill>
          <a:ln/>
        </p:spPr>
      </p:sp>
      <p:sp>
        <p:nvSpPr>
          <p:cNvPr id="12" name="Shape 10"/>
          <p:cNvSpPr/>
          <p:nvPr/>
        </p:nvSpPr>
        <p:spPr>
          <a:xfrm>
            <a:off x="9784080" y="2642616"/>
            <a:ext cx="73152" cy="201168"/>
          </a:xfrm>
          <a:prstGeom prst="roundRect">
            <a:avLst>
              <a:gd name="adj" fmla="val 62500"/>
            </a:avLst>
          </a:prstGeom>
          <a:solidFill>
            <a:srgbClr val="6EE7B7"/>
          </a:solidFill>
          <a:ln/>
        </p:spPr>
      </p:sp>
      <p:sp>
        <p:nvSpPr>
          <p:cNvPr id="13" name="Text 11"/>
          <p:cNvSpPr/>
          <p:nvPr/>
        </p:nvSpPr>
        <p:spPr>
          <a:xfrm>
            <a:off x="7178040" y="322783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0.16 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83880" y="322783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784080" y="3355848"/>
            <a:ext cx="1737360" cy="201168"/>
          </a:xfrm>
          <a:prstGeom prst="roundRect">
            <a:avLst>
              <a:gd name="adj" fmla="val 22727"/>
            </a:avLst>
          </a:prstGeom>
          <a:solidFill>
            <a:srgbClr val="163740"/>
          </a:solidFill>
          <a:ln/>
        </p:spPr>
      </p:sp>
      <p:sp>
        <p:nvSpPr>
          <p:cNvPr id="16" name="Shape 14"/>
          <p:cNvSpPr/>
          <p:nvPr/>
        </p:nvSpPr>
        <p:spPr>
          <a:xfrm>
            <a:off x="9784080" y="3355848"/>
            <a:ext cx="277978" cy="201168"/>
          </a:xfrm>
          <a:prstGeom prst="roundRect">
            <a:avLst>
              <a:gd name="adj" fmla="val 22727"/>
            </a:avLst>
          </a:prstGeom>
          <a:solidFill>
            <a:srgbClr val="6EE7B7"/>
          </a:solidFill>
          <a:ln/>
        </p:spPr>
      </p:sp>
      <p:sp>
        <p:nvSpPr>
          <p:cNvPr id="17" name="Text 15"/>
          <p:cNvSpPr/>
          <p:nvPr/>
        </p:nvSpPr>
        <p:spPr>
          <a:xfrm>
            <a:off x="7178040" y="394106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0.38 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83880" y="3941064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784080" y="4069080"/>
            <a:ext cx="1737360" cy="201168"/>
          </a:xfrm>
          <a:prstGeom prst="roundRect">
            <a:avLst>
              <a:gd name="adj" fmla="val 22727"/>
            </a:avLst>
          </a:prstGeom>
          <a:solidFill>
            <a:srgbClr val="163740"/>
          </a:solidFill>
          <a:ln/>
        </p:spPr>
      </p:sp>
      <p:sp>
        <p:nvSpPr>
          <p:cNvPr id="20" name="Shape 18"/>
          <p:cNvSpPr/>
          <p:nvPr/>
        </p:nvSpPr>
        <p:spPr>
          <a:xfrm>
            <a:off x="9784080" y="4069080"/>
            <a:ext cx="660197" cy="201168"/>
          </a:xfrm>
          <a:prstGeom prst="roundRect">
            <a:avLst>
              <a:gd name="adj" fmla="val 22727"/>
            </a:avLst>
          </a:prstGeom>
          <a:solidFill>
            <a:srgbClr val="6EE7B7"/>
          </a:solidFill>
          <a:ln/>
        </p:spPr>
      </p:sp>
      <p:sp>
        <p:nvSpPr>
          <p:cNvPr id="21" name="Text 19"/>
          <p:cNvSpPr/>
          <p:nvPr/>
        </p:nvSpPr>
        <p:spPr>
          <a:xfrm>
            <a:off x="7178040" y="465429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183880" y="4654296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 (control)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784080" y="4782312"/>
            <a:ext cx="1737360" cy="201168"/>
          </a:xfrm>
          <a:prstGeom prst="roundRect">
            <a:avLst>
              <a:gd name="adj" fmla="val 22727"/>
            </a:avLst>
          </a:prstGeom>
          <a:solidFill>
            <a:srgbClr val="163740"/>
          </a:solidFill>
          <a:ln/>
        </p:spPr>
      </p:sp>
      <p:sp>
        <p:nvSpPr>
          <p:cNvPr id="24" name="Shape 22"/>
          <p:cNvSpPr/>
          <p:nvPr/>
        </p:nvSpPr>
        <p:spPr>
          <a:xfrm>
            <a:off x="9784080" y="4782312"/>
            <a:ext cx="1737360" cy="201168"/>
          </a:xfrm>
          <a:prstGeom prst="roundRect">
            <a:avLst>
              <a:gd name="adj" fmla="val 22727"/>
            </a:avLst>
          </a:prstGeom>
          <a:solidFill>
            <a:srgbClr val="6EE7B7"/>
          </a:solidFill>
          <a:ln/>
        </p:spPr>
      </p:sp>
      <p:sp>
        <p:nvSpPr>
          <p:cNvPr id="25" name="Text 23"/>
          <p:cNvSpPr/>
          <p:nvPr/>
        </p:nvSpPr>
        <p:spPr>
          <a:xfrm>
            <a:off x="7178040" y="5504688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0 → hydrotropic / contact-driven bias dominates.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1 → standard downward gravitropic bias.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2E5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ORBITAL GROVE · MICROGRAVITY SIMULATOR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6012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SCIENCE II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3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Nutrient &amp; water transport: diffusion takes over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0" cy="0"/>
          </a:xfrm>
          <a:prstGeom prst="line">
            <a:avLst/>
          </a:prstGeom>
          <a:noFill/>
          <a:ln w="12700">
            <a:solidFill>
              <a:srgbClr val="2E5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57607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000"/>
              </a:lnSpc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F3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Earth, nutrients move through soil via convection (gravity-driven flow) plus diffusion.</a:t>
            </a:r>
            <a:endParaRPr lang="en-US" sz="1400" dirty="0"/>
          </a:p>
          <a:p>
            <a:pPr marL="177800" indent="-177800">
              <a:lnSpc>
                <a:spcPts val="2000"/>
              </a:lnSpc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F3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microgravity, convection collapses — there's no “down” for water to flow toward.</a:t>
            </a:r>
            <a:endParaRPr lang="en-US" sz="1400" dirty="0"/>
          </a:p>
          <a:p>
            <a:pPr marL="177800" indent="-177800">
              <a:lnSpc>
                <a:spcPts val="2000"/>
              </a:lnSpc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F3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becomes diffusion-dominant, modeled with Fick's second law of diffusion.</a:t>
            </a:r>
            <a:endParaRPr lang="en-US" sz="1400" dirty="0"/>
          </a:p>
          <a:p>
            <a:pPr marL="177800" indent="-177800">
              <a:lnSpc>
                <a:spcPts val="2000"/>
              </a:lnSpc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F3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why water is documented forming bubbles around ISS root systems instead of draining — the model reproduces the real, observed failure mode.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720840" y="1828800"/>
            <a:ext cx="4892040" cy="4160520"/>
          </a:xfrm>
          <a:prstGeom prst="roundRect">
            <a:avLst>
              <a:gd name="adj" fmla="val 1978"/>
            </a:avLst>
          </a:prstGeom>
          <a:solidFill>
            <a:srgbClr val="10262D"/>
          </a:solidFill>
          <a:ln w="9525">
            <a:solidFill>
              <a:srgbClr val="2E5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95160" y="2011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FICK’S SECOND LAW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95160" y="233172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EE7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∂C/∂t = D · ∇²C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995160" y="29718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nutrient concentration      D = diffusion coefficient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302752" y="3867912"/>
            <a:ext cx="1682496" cy="1682496"/>
          </a:xfrm>
          <a:prstGeom prst="ellipse">
            <a:avLst/>
          </a:prstGeom>
          <a:ln w="12700">
            <a:solidFill>
              <a:srgbClr val="6EE7B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22208" y="4087368"/>
            <a:ext cx="1243584" cy="1243584"/>
          </a:xfrm>
          <a:prstGeom prst="ellipse">
            <a:avLst/>
          </a:prstGeom>
          <a:ln w="12700">
            <a:solidFill>
              <a:srgbClr val="6EE7B7">
                <a:alpha val="8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23376" y="4288536"/>
            <a:ext cx="841248" cy="841248"/>
          </a:xfrm>
          <a:prstGeom prst="ellipse">
            <a:avLst/>
          </a:prstGeom>
          <a:ln w="12700">
            <a:solidFill>
              <a:srgbClr val="6EE7B7">
                <a:alpha val="7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24544" y="4489704"/>
            <a:ext cx="438912" cy="438912"/>
          </a:xfrm>
          <a:prstGeom prst="ellipse">
            <a:avLst/>
          </a:prstGeom>
          <a:ln w="12700">
            <a:solidFill>
              <a:srgbClr val="6EE7B7">
                <a:alpha val="5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49156" y="4585716"/>
            <a:ext cx="64008" cy="64008"/>
          </a:xfrm>
          <a:prstGeom prst="ellipse">
            <a:avLst/>
          </a:prstGeom>
          <a:solidFill>
            <a:srgbClr val="F3F7F8"/>
          </a:solidFill>
          <a:ln/>
        </p:spPr>
      </p:sp>
      <p:sp>
        <p:nvSpPr>
          <p:cNvPr id="16" name="Shape 14"/>
          <p:cNvSpPr/>
          <p:nvPr/>
        </p:nvSpPr>
        <p:spPr>
          <a:xfrm>
            <a:off x="8929116" y="4841748"/>
            <a:ext cx="64008" cy="64008"/>
          </a:xfrm>
          <a:prstGeom prst="ellipse">
            <a:avLst/>
          </a:prstGeom>
          <a:solidFill>
            <a:srgbClr val="F3F7F8"/>
          </a:solidFill>
          <a:ln/>
        </p:spPr>
      </p:sp>
      <p:sp>
        <p:nvSpPr>
          <p:cNvPr id="17" name="Shape 15"/>
          <p:cNvSpPr/>
          <p:nvPr/>
        </p:nvSpPr>
        <p:spPr>
          <a:xfrm>
            <a:off x="9386316" y="4878324"/>
            <a:ext cx="64008" cy="64008"/>
          </a:xfrm>
          <a:prstGeom prst="ellipse">
            <a:avLst/>
          </a:prstGeom>
          <a:solidFill>
            <a:srgbClr val="F3F7F8"/>
          </a:solidFill>
          <a:ln/>
        </p:spPr>
      </p:sp>
      <p:sp>
        <p:nvSpPr>
          <p:cNvPr id="18" name="Shape 16"/>
          <p:cNvSpPr/>
          <p:nvPr/>
        </p:nvSpPr>
        <p:spPr>
          <a:xfrm>
            <a:off x="8791956" y="4539996"/>
            <a:ext cx="64008" cy="64008"/>
          </a:xfrm>
          <a:prstGeom prst="ellipse">
            <a:avLst/>
          </a:prstGeom>
          <a:solidFill>
            <a:srgbClr val="F3F7F8"/>
          </a:solidFill>
          <a:ln/>
        </p:spPr>
      </p:sp>
      <p:sp>
        <p:nvSpPr>
          <p:cNvPr id="19" name="Shape 17"/>
          <p:cNvSpPr/>
          <p:nvPr/>
        </p:nvSpPr>
        <p:spPr>
          <a:xfrm>
            <a:off x="9157716" y="4357116"/>
            <a:ext cx="64008" cy="64008"/>
          </a:xfrm>
          <a:prstGeom prst="ellipse">
            <a:avLst/>
          </a:prstGeom>
          <a:solidFill>
            <a:srgbClr val="F3F7F8"/>
          </a:solidFill>
          <a:ln/>
        </p:spPr>
      </p:sp>
      <p:sp>
        <p:nvSpPr>
          <p:cNvPr id="20" name="Shape 18"/>
          <p:cNvSpPr/>
          <p:nvPr/>
        </p:nvSpPr>
        <p:spPr>
          <a:xfrm>
            <a:off x="9020556" y="5042916"/>
            <a:ext cx="64008" cy="64008"/>
          </a:xfrm>
          <a:prstGeom prst="ellipse">
            <a:avLst/>
          </a:prstGeom>
          <a:solidFill>
            <a:srgbClr val="F3F7F8"/>
          </a:solidFill>
          <a:ln/>
        </p:spPr>
      </p:sp>
      <p:sp>
        <p:nvSpPr>
          <p:cNvPr id="21" name="Shape 19"/>
          <p:cNvSpPr/>
          <p:nvPr/>
        </p:nvSpPr>
        <p:spPr>
          <a:xfrm>
            <a:off x="9496044" y="4631436"/>
            <a:ext cx="64008" cy="64008"/>
          </a:xfrm>
          <a:prstGeom prst="ellipse">
            <a:avLst/>
          </a:prstGeom>
          <a:solidFill>
            <a:srgbClr val="F3F7F8"/>
          </a:solidFill>
          <a:ln/>
        </p:spPr>
      </p:sp>
      <p:sp>
        <p:nvSpPr>
          <p:cNvPr id="22" name="Shape 20"/>
          <p:cNvSpPr/>
          <p:nvPr/>
        </p:nvSpPr>
        <p:spPr>
          <a:xfrm>
            <a:off x="8700516" y="4722876"/>
            <a:ext cx="64008" cy="64008"/>
          </a:xfrm>
          <a:prstGeom prst="ellipse">
            <a:avLst/>
          </a:prstGeom>
          <a:solidFill>
            <a:srgbClr val="F3F7F8"/>
          </a:solidFill>
          <a:ln/>
        </p:spPr>
      </p:sp>
      <p:sp>
        <p:nvSpPr>
          <p:cNvPr id="23" name="Text 21"/>
          <p:cNvSpPr/>
          <p:nvPr/>
        </p:nvSpPr>
        <p:spPr>
          <a:xfrm>
            <a:off x="6995160" y="55321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diffusion-dominant nutrient field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the root zone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2E5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ORBITAL GROVE · MICROGRAVITY SIMULATOR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6012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SCIENCE III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3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by design: physics-based, not black-box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0" cy="0"/>
          </a:xfrm>
          <a:prstGeom prst="line">
            <a:avLst/>
          </a:prstGeom>
          <a:noFill/>
          <a:ln w="12700">
            <a:solidFill>
              <a:srgbClr val="2E5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3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space-agriculture datasets are still too sparse to train or validate a general yield-prediction model. Rather than overclaim, Orbital Grove says so — in the model and in the UI.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5257800" cy="3200400"/>
          </a:xfrm>
          <a:prstGeom prst="roundRect">
            <a:avLst>
              <a:gd name="adj" fmla="val 2571"/>
            </a:avLst>
          </a:prstGeom>
          <a:solidFill>
            <a:srgbClr val="163740"/>
          </a:solidFill>
          <a:ln w="9525">
            <a:solidFill>
              <a:srgbClr val="2E5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97180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· TRANSPARENT PARAMETRIC MODEL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338328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surface area × nutrient exposure × time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8680" y="4023360"/>
            <a:ext cx="4617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physiology-derived formula, shown openly rather than hidden behind an “AI-predicted” claim. Every output is labelled with its confidence tier.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26480" y="2697480"/>
            <a:ext cx="5257800" cy="3200400"/>
          </a:xfrm>
          <a:prstGeom prst="roundRect">
            <a:avLst>
              <a:gd name="adj" fmla="val 2571"/>
            </a:avLst>
          </a:prstGeom>
          <a:solidFill>
            <a:srgbClr val="10262D"/>
          </a:solidFill>
          <a:ln w="9525">
            <a:solidFill>
              <a:srgbClr val="2E5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97180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DATA GROWS · DATA-CALIBRATED LAYER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46520" y="338328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Lightweight regression on real NASA growth data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46520" y="4023360"/>
            <a:ext cx="4617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for later: today's public datasets (a handful of ISS/ground observations) are too thin to responsibly train a general model on.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2E5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ORBITAL GROVE · MICROGRAVITY SIMULATOR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6012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3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in real NASA reference data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0" cy="0"/>
          </a:xfrm>
          <a:prstGeom prst="line">
            <a:avLst/>
          </a:prstGeom>
          <a:noFill/>
          <a:ln w="12700">
            <a:solidFill>
              <a:srgbClr val="2E5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61264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F3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cites real NASA Open Science Data Repository (OSDR) metadata rather than inventing plausible-sounding numbers.</a:t>
            </a:r>
            <a:endParaRPr lang="en-US" sz="1400" dirty="0"/>
          </a:p>
          <a:p>
            <a:pPr marL="177800" indent="-177800">
              <a:lnSpc>
                <a:spcPts val="2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F3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dataset: the VEG-04A mizuna experiment — fresh-biomass measurements from matched ISS and ground-control grows.</a:t>
            </a:r>
            <a:endParaRPr lang="en-US" sz="1400" dirty="0"/>
          </a:p>
          <a:p>
            <a:pPr marL="177800" indent="-177800">
              <a:lnSpc>
                <a:spcPts val="2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F3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as a citable calibration reference, not a training set — four observations can validate a direction, not a general model.</a:t>
            </a:r>
            <a:endParaRPr lang="en-US" sz="1400" dirty="0"/>
          </a:p>
          <a:p>
            <a:pPr marL="177800" indent="-177800">
              <a:lnSpc>
                <a:spcPts val="2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F3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keeps its “physics-inspired” label deliberately, precisely because of this honest data limit.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086600" y="1828800"/>
            <a:ext cx="4526280" cy="4160520"/>
          </a:xfrm>
          <a:prstGeom prst="roundRect">
            <a:avLst>
              <a:gd name="adj" fmla="val 1978"/>
            </a:avLst>
          </a:prstGeom>
          <a:solidFill>
            <a:srgbClr val="10262D"/>
          </a:solidFill>
          <a:ln w="9525">
            <a:solidFill>
              <a:srgbClr val="2E5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60920" y="2057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DATASET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60920" y="23774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3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VEG-04A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360920" y="2880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Mizuna · NASA OSDR · ISS + ground control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60920" y="3429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6EE7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7360920" y="4023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CITABLE OBSERVATIONS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418320" y="3429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3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9418320" y="4023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ENVIRONMENTS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60920" y="470916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 and citation notes are documented alongside the app so the data provenance is checkable, not asserted.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2E5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ORBITAL GROVE · MICROGRAVITY SIMULATOR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6012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WALKTHROUGH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3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the experiment: parameters panel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0" cy="0"/>
          </a:xfrm>
          <a:prstGeom prst="line">
            <a:avLst/>
          </a:prstGeom>
          <a:noFill/>
          <a:ln w="12700">
            <a:solidFill>
              <a:srgbClr val="2E5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control panel drives the whole simulation — no separate config file or code edit needed.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3566160" cy="3657600"/>
          </a:xfrm>
          <a:prstGeom prst="roundRect">
            <a:avLst>
              <a:gd name="adj" fmla="val 2308"/>
            </a:avLst>
          </a:prstGeom>
          <a:solidFill>
            <a:srgbClr val="10262D"/>
          </a:solidFill>
          <a:ln w="9525">
            <a:solidFill>
              <a:srgbClr val="2E5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06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PROFILE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3063240"/>
            <a:ext cx="3017520" cy="475488"/>
          </a:xfrm>
          <a:prstGeom prst="roundRect">
            <a:avLst>
              <a:gd name="adj" fmla="val 15385"/>
            </a:avLst>
          </a:prstGeom>
          <a:solidFill>
            <a:srgbClr val="163740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06324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3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Romaine Lettuce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3685032"/>
            <a:ext cx="3017520" cy="475488"/>
          </a:xfrm>
          <a:prstGeom prst="roundRect">
            <a:avLst>
              <a:gd name="adj" fmla="val 15385"/>
            </a:avLst>
          </a:prstGeom>
          <a:solidFill>
            <a:srgbClr val="10262D"/>
          </a:solidFill>
          <a:ln w="12700">
            <a:solidFill>
              <a:srgbClr val="2E5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68503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3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Cherry Belle Radish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306824"/>
            <a:ext cx="3017520" cy="475488"/>
          </a:xfrm>
          <a:prstGeom prst="roundRect">
            <a:avLst>
              <a:gd name="adj" fmla="val 15385"/>
            </a:avLst>
          </a:prstGeom>
          <a:solidFill>
            <a:srgbClr val="10262D"/>
          </a:solidFill>
          <a:ln w="12700">
            <a:solidFill>
              <a:srgbClr val="2E5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306824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3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Genovese Basil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5166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cycle · leaf biomass · Veggie-tested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15968" y="2377440"/>
            <a:ext cx="3566160" cy="3657600"/>
          </a:xfrm>
          <a:prstGeom prst="roundRect">
            <a:avLst>
              <a:gd name="adj" fmla="val 2308"/>
            </a:avLst>
          </a:prstGeom>
          <a:solidFill>
            <a:srgbClr val="10262D"/>
          </a:solidFill>
          <a:ln w="9525">
            <a:solidFill>
              <a:srgbClr val="2E5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0288" y="2606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ENVIRONMENT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90288" y="3063240"/>
            <a:ext cx="3017520" cy="475488"/>
          </a:xfrm>
          <a:prstGeom prst="roundRect">
            <a:avLst>
              <a:gd name="adj" fmla="val 15385"/>
            </a:avLst>
          </a:prstGeom>
          <a:solidFill>
            <a:srgbClr val="163740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3063240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69280" y="306324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Orbital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90288" y="3685032"/>
            <a:ext cx="3017520" cy="475488"/>
          </a:xfrm>
          <a:prstGeom prst="roundRect">
            <a:avLst>
              <a:gd name="adj" fmla="val 15385"/>
            </a:avLst>
          </a:prstGeom>
          <a:solidFill>
            <a:srgbClr val="10262D"/>
          </a:solidFill>
          <a:ln w="12700">
            <a:solidFill>
              <a:srgbClr val="2E5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3685032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0.16 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69280" y="3685032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90288" y="4306824"/>
            <a:ext cx="3017520" cy="475488"/>
          </a:xfrm>
          <a:prstGeom prst="roundRect">
            <a:avLst>
              <a:gd name="adj" fmla="val 15385"/>
            </a:avLst>
          </a:prstGeom>
          <a:solidFill>
            <a:srgbClr val="10262D"/>
          </a:solidFill>
          <a:ln w="12700">
            <a:solidFill>
              <a:srgbClr val="2E5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4306824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0.38 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69280" y="4306824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90288" y="4928616"/>
            <a:ext cx="3017520" cy="475488"/>
          </a:xfrm>
          <a:prstGeom prst="roundRect">
            <a:avLst>
              <a:gd name="adj" fmla="val 15385"/>
            </a:avLst>
          </a:prstGeom>
          <a:solidFill>
            <a:srgbClr val="10262D"/>
          </a:solidFill>
          <a:ln w="12700">
            <a:solidFill>
              <a:srgbClr val="2E5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3168" y="4928616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669280" y="4928616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74152" y="2377440"/>
            <a:ext cx="3566160" cy="3657600"/>
          </a:xfrm>
          <a:prstGeom prst="roundRect">
            <a:avLst>
              <a:gd name="adj" fmla="val 2308"/>
            </a:avLst>
          </a:prstGeom>
          <a:solidFill>
            <a:srgbClr val="10262D"/>
          </a:solidFill>
          <a:ln w="9525">
            <a:solidFill>
              <a:srgbClr val="2E5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48472" y="2606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MEDIUM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348472" y="3063240"/>
            <a:ext cx="3017520" cy="384048"/>
          </a:xfrm>
          <a:prstGeom prst="roundRect">
            <a:avLst>
              <a:gd name="adj" fmla="val 19048"/>
            </a:avLst>
          </a:prstGeom>
          <a:solidFill>
            <a:srgbClr val="163740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31352" y="30632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Arcillite substrate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348472" y="3538728"/>
            <a:ext cx="3017520" cy="384048"/>
          </a:xfrm>
          <a:prstGeom prst="roundRect">
            <a:avLst>
              <a:gd name="adj" fmla="val 19048"/>
            </a:avLst>
          </a:prstGeom>
          <a:solidFill>
            <a:srgbClr val="10262D"/>
          </a:solidFill>
          <a:ln w="12700">
            <a:solidFill>
              <a:srgbClr val="2E5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31352" y="353872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coir matrix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348472" y="4014216"/>
            <a:ext cx="3017520" cy="384048"/>
          </a:xfrm>
          <a:prstGeom prst="roundRect">
            <a:avLst>
              <a:gd name="adj" fmla="val 19048"/>
            </a:avLst>
          </a:prstGeom>
          <a:solidFill>
            <a:srgbClr val="10262D"/>
          </a:solidFill>
          <a:ln w="12700">
            <a:solidFill>
              <a:srgbClr val="2E5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31352" y="4014216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Hydrogel matrix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348472" y="4709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332720" y="47091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3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348472" y="5001768"/>
            <a:ext cx="3017520" cy="109728"/>
          </a:xfrm>
          <a:prstGeom prst="roundRect">
            <a:avLst>
              <a:gd name="adj" fmla="val 50000"/>
            </a:avLst>
          </a:prstGeom>
          <a:solidFill>
            <a:srgbClr val="163740"/>
          </a:solidFill>
          <a:ln/>
        </p:spPr>
      </p:sp>
      <p:sp>
        <p:nvSpPr>
          <p:cNvPr id="41" name="Shape 39"/>
          <p:cNvSpPr/>
          <p:nvPr/>
        </p:nvSpPr>
        <p:spPr>
          <a:xfrm>
            <a:off x="8348472" y="5001768"/>
            <a:ext cx="1870862" cy="109728"/>
          </a:xfrm>
          <a:prstGeom prst="roundRect">
            <a:avLst>
              <a:gd name="adj" fmla="val 50000"/>
            </a:avLst>
          </a:prstGeom>
          <a:solidFill>
            <a:srgbClr val="6EE7B7"/>
          </a:solidFill>
          <a:ln/>
        </p:spPr>
      </p:sp>
      <p:sp>
        <p:nvSpPr>
          <p:cNvPr id="42" name="Text 40"/>
          <p:cNvSpPr/>
          <p:nvPr/>
        </p:nvSpPr>
        <p:spPr>
          <a:xfrm>
            <a:off x="8348472" y="53675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Nutrient density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332720" y="53675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3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0.84×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348472" y="5660136"/>
            <a:ext cx="3017520" cy="109728"/>
          </a:xfrm>
          <a:prstGeom prst="roundRect">
            <a:avLst>
              <a:gd name="adj" fmla="val 50000"/>
            </a:avLst>
          </a:prstGeom>
          <a:solidFill>
            <a:srgbClr val="163740"/>
          </a:solidFill>
          <a:ln/>
        </p:spPr>
      </p:sp>
      <p:sp>
        <p:nvSpPr>
          <p:cNvPr id="45" name="Shape 43"/>
          <p:cNvSpPr/>
          <p:nvPr/>
        </p:nvSpPr>
        <p:spPr>
          <a:xfrm>
            <a:off x="8348472" y="5660136"/>
            <a:ext cx="2534717" cy="109728"/>
          </a:xfrm>
          <a:prstGeom prst="roundRect">
            <a:avLst>
              <a:gd name="adj" fmla="val 50000"/>
            </a:avLst>
          </a:prstGeom>
          <a:solidFill>
            <a:srgbClr val="6EE7B7"/>
          </a:solidFill>
          <a:ln/>
        </p:spPr>
      </p:sp>
      <p:sp>
        <p:nvSpPr>
          <p:cNvPr id="46" name="Text 4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2E5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ORBITAL GROVE · MICROGRAVITY SIMULATOR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6012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WALKTHROUGH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3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study: root zone &amp; viability readout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0" cy="0"/>
          </a:xfrm>
          <a:prstGeom prst="line">
            <a:avLst/>
          </a:prstGeom>
          <a:noFill/>
          <a:ln w="12700">
            <a:solidFill>
              <a:srgbClr val="2E5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5166360" cy="4160520"/>
          </a:xfrm>
          <a:prstGeom prst="roundRect">
            <a:avLst>
              <a:gd name="adj" fmla="val 1978"/>
            </a:avLst>
          </a:prstGeom>
          <a:solidFill>
            <a:srgbClr val="10262D"/>
          </a:solidFill>
          <a:ln w="9525">
            <a:solidFill>
              <a:srgbClr val="2E5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ZONE OBSERVATION · DAY 18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27248" y="2606040"/>
            <a:ext cx="502920" cy="1371600"/>
          </a:xfrm>
          <a:prstGeom prst="line">
            <a:avLst/>
          </a:prstGeom>
          <a:noFill/>
          <a:ln w="19050">
            <a:solidFill>
              <a:srgbClr val="6EE7B7">
                <a:alpha val="9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3127248" y="2606040"/>
            <a:ext cx="-457200" cy="1280160"/>
          </a:xfrm>
          <a:prstGeom prst="line">
            <a:avLst/>
          </a:prstGeom>
          <a:noFill/>
          <a:ln w="19050">
            <a:solidFill>
              <a:srgbClr val="6EE7B7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27248" y="2606040"/>
            <a:ext cx="137160" cy="1554480"/>
          </a:xfrm>
          <a:prstGeom prst="line">
            <a:avLst/>
          </a:prstGeom>
          <a:noFill/>
          <a:ln w="19050">
            <a:solidFill>
              <a:srgbClr val="6EE7B7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3127248" y="2606040"/>
            <a:ext cx="-777240" cy="914400"/>
          </a:xfrm>
          <a:prstGeom prst="line">
            <a:avLst/>
          </a:prstGeom>
          <a:noFill/>
          <a:ln w="19050">
            <a:solidFill>
              <a:srgbClr val="6EE7B7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27248" y="2606040"/>
            <a:ext cx="777240" cy="914400"/>
          </a:xfrm>
          <a:prstGeom prst="line">
            <a:avLst/>
          </a:prstGeom>
          <a:noFill/>
          <a:ln w="19050">
            <a:solidFill>
              <a:srgbClr val="6EE7B7">
                <a:alpha val="9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>
            <a:off x="3127248" y="2606040"/>
            <a:ext cx="-182880" cy="1005840"/>
          </a:xfrm>
          <a:prstGeom prst="line">
            <a:avLst/>
          </a:prstGeom>
          <a:noFill/>
          <a:ln w="19050">
            <a:solidFill>
              <a:srgbClr val="6EE7B7">
                <a:alpha val="9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27248" y="2606040"/>
            <a:ext cx="320040" cy="822960"/>
          </a:xfrm>
          <a:prstGeom prst="line">
            <a:avLst/>
          </a:prstGeom>
          <a:noFill/>
          <a:ln w="19050">
            <a:solidFill>
              <a:srgbClr val="6EE7B7">
                <a:alpha val="9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26664" y="2404872"/>
            <a:ext cx="201168" cy="201168"/>
          </a:xfrm>
          <a:prstGeom prst="ellipse">
            <a:avLst/>
          </a:prstGeom>
          <a:solidFill>
            <a:srgbClr val="F3F7F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349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× 36 field resolution · diffusion-dominant transport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2960" y="57150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root system spreads laterally. Without a strong gravitational vector, hydrotropic signaling and substrate contact become the dominant directional cues.”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43600" y="1828800"/>
            <a:ext cx="5669280" cy="4160520"/>
          </a:xfrm>
          <a:prstGeom prst="roundRect">
            <a:avLst>
              <a:gd name="adj" fmla="val 1978"/>
            </a:avLst>
          </a:prstGeom>
          <a:solidFill>
            <a:srgbClr val="163740"/>
          </a:solidFill>
          <a:ln w="9525">
            <a:solidFill>
              <a:srgbClr val="2E5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2011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VIABILITY READOUT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0" y="23774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6EE7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73/100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6217920" y="2971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VIABILITY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778240" y="2514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2B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CONFIDENCE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17920" y="32461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3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126 g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217920" y="3840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FRESH BIOMASS / PLANT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869680" y="32461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3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38.4 cm²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869680" y="3840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SURFACE AREA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17920" y="41605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3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68%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217920" y="4754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NUTRIENT EXPOSURE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869680" y="41605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2B1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−21%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8869680" y="4754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EARTH-CONTROL BIOMASS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17920" y="5074920"/>
            <a:ext cx="5120640" cy="0"/>
          </a:xfrm>
          <a:prstGeom prst="line">
            <a:avLst/>
          </a:prstGeom>
          <a:noFill/>
          <a:ln w="12700">
            <a:solidFill>
              <a:srgbClr val="2E5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5212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Earth-normal growth: 160 g / plant under identical inputs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17920" y="56235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downloadable JSON study report for every run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2E5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ORBITAL GROVE · MICROGRAVITY SIMULATOR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6012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3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deliberately self-contained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0" cy="0"/>
          </a:xfrm>
          <a:prstGeom prst="line">
            <a:avLst/>
          </a:prstGeom>
          <a:noFill/>
          <a:ln w="12700">
            <a:solidFill>
              <a:srgbClr val="2E5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5852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000"/>
              </a:lnSpc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F3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as a single index.html — no install, build step, backend, or account required to run or demo it.</a:t>
            </a:r>
            <a:endParaRPr lang="en-US" sz="1400" dirty="0"/>
          </a:p>
          <a:p>
            <a:pPr marL="177800" indent="-177800">
              <a:lnSpc>
                <a:spcPts val="2000"/>
              </a:lnSpc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F3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growth and diffusion models run deterministically in-browser (biased random-walk generator + Fick's-law solver).</a:t>
            </a:r>
            <a:endParaRPr lang="en-US" sz="1400" dirty="0"/>
          </a:p>
          <a:p>
            <a:pPr marL="177800" indent="-177800">
              <a:lnSpc>
                <a:spcPts val="2000"/>
              </a:lnSpc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F3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runs export as downloadable JSON, so results can be archived or handed off without a server.</a:t>
            </a:r>
            <a:endParaRPr lang="en-US" sz="1400" dirty="0"/>
          </a:p>
          <a:p>
            <a:pPr marL="177800" indent="-177800">
              <a:lnSpc>
                <a:spcPts val="2000"/>
              </a:lnSpc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F3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— Viewer, Researcher, Principal Investigator — is enforced locally via browser storage; no accounts, no auth server.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720840" y="1828800"/>
            <a:ext cx="4892040" cy="4160520"/>
          </a:xfrm>
          <a:prstGeom prst="roundRect">
            <a:avLst>
              <a:gd name="adj" fmla="val 1978"/>
            </a:avLst>
          </a:prstGeom>
          <a:solidFill>
            <a:srgbClr val="10262D"/>
          </a:solidFill>
          <a:ln w="9525">
            <a:solidFill>
              <a:srgbClr val="2E5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95160" y="2011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ROLES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995160" y="2523744"/>
            <a:ext cx="201168" cy="201168"/>
          </a:xfrm>
          <a:prstGeom prst="ellipse">
            <a:avLst/>
          </a:prstGeom>
          <a:solidFill>
            <a:srgbClr val="163740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60920" y="2468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3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Viewer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281160" y="24688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studies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95160" y="3090672"/>
            <a:ext cx="201168" cy="201168"/>
          </a:xfrm>
          <a:prstGeom prst="ellipse">
            <a:avLst/>
          </a:prstGeom>
          <a:solidFill>
            <a:srgbClr val="163740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60920" y="30358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3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Researcher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281160" y="303580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&amp; export studies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95160" y="3657600"/>
            <a:ext cx="201168" cy="201168"/>
          </a:xfrm>
          <a:prstGeom prst="ellipse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60920" y="360273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3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Principal Investigator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281160" y="360273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configuration access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95160" y="4306824"/>
            <a:ext cx="4297680" cy="0"/>
          </a:xfrm>
          <a:prstGeom prst="line">
            <a:avLst/>
          </a:prstGeom>
          <a:noFill/>
          <a:ln w="12700">
            <a:solidFill>
              <a:srgbClr val="2E5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95160" y="4489704"/>
            <a:ext cx="4297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only in the local browser — nothing about role or study data leaves the device unless the researcher exports it.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2E5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ORBITAL GROVE · MICROGRAVITY SIMULATOR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6012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STANDS OUT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3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 for the Ideathon, on its own merits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0" cy="0"/>
          </a:xfrm>
          <a:prstGeom prst="line">
            <a:avLst/>
          </a:prstGeom>
          <a:noFill/>
          <a:ln w="12700">
            <a:solidFill>
              <a:srgbClr val="2E5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10262D"/>
          </a:solidFill>
          <a:ln w="9525">
            <a:solidFill>
              <a:srgbClr val="2E5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066544"/>
            <a:ext cx="292608" cy="292608"/>
          </a:xfrm>
          <a:prstGeom prst="ellipse">
            <a:avLst/>
          </a:prstGeom>
          <a:solidFill>
            <a:srgbClr val="0A1A1F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0665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2450592"/>
            <a:ext cx="3008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3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themes, one build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04672" y="2834640"/>
            <a:ext cx="3008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bridges space and agriculture instead of forcing the connection.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182880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10262D"/>
          </a:solidFill>
          <a:ln w="9525">
            <a:solidFill>
              <a:srgbClr val="2E5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53712" y="2066544"/>
            <a:ext cx="292608" cy="292608"/>
          </a:xfrm>
          <a:prstGeom prst="ellipse">
            <a:avLst/>
          </a:prstGeom>
          <a:solidFill>
            <a:srgbClr val="0A1A1F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3712" y="20665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53712" y="2450592"/>
            <a:ext cx="3008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3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research grounding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53712" y="2834640"/>
            <a:ext cx="3008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actual NASA Veggie / APH / VEG-04A findings, not speculation.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0" y="182880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10262D"/>
          </a:solidFill>
          <a:ln w="9525">
            <a:solidFill>
              <a:srgbClr val="2E57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02752" y="2066544"/>
            <a:ext cx="292608" cy="292608"/>
          </a:xfrm>
          <a:prstGeom prst="ellipse">
            <a:avLst/>
          </a:prstGeom>
          <a:solidFill>
            <a:srgbClr val="0A1A1F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02752" y="20665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02752" y="2450592"/>
            <a:ext cx="3008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3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 algorithmic depth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302752" y="2834640"/>
            <a:ext cx="3008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diffusion PDE and a biased-growth model, not a UI wrapper on an API call.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79476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10262D"/>
          </a:solidFill>
          <a:ln w="9525">
            <a:solidFill>
              <a:srgbClr val="2E57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" y="4032504"/>
            <a:ext cx="292608" cy="292608"/>
          </a:xfrm>
          <a:prstGeom prst="ellipse">
            <a:avLst/>
          </a:prstGeom>
          <a:solidFill>
            <a:srgbClr val="0A1A1F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40325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4672" y="4416552"/>
            <a:ext cx="3008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3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Live, zero-install demo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04672" y="4800600"/>
            <a:ext cx="3008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any browser — nothing to configure in front of judges.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97680" y="379476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10262D"/>
          </a:solidFill>
          <a:ln w="9525">
            <a:solidFill>
              <a:srgbClr val="2E576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53712" y="4032504"/>
            <a:ext cx="292608" cy="292608"/>
          </a:xfrm>
          <a:prstGeom prst="ellipse">
            <a:avLst/>
          </a:prstGeom>
          <a:solidFill>
            <a:srgbClr val="0A1A1F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53712" y="40325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53712" y="4416552"/>
            <a:ext cx="3008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3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Scientific honesty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4553712" y="4800600"/>
            <a:ext cx="3008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its own confidence instead of overclaiming a black-box prediction.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046720" y="379476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10262D"/>
          </a:solidFill>
          <a:ln w="9525">
            <a:solidFill>
              <a:srgbClr val="2E576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02752" y="4032504"/>
            <a:ext cx="292608" cy="292608"/>
          </a:xfrm>
          <a:prstGeom prst="ellipse">
            <a:avLst/>
          </a:prstGeom>
          <a:solidFill>
            <a:srgbClr val="0A1A1F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02752" y="40325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302752" y="4416552"/>
            <a:ext cx="3008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3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Educational value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8302752" y="4800600"/>
            <a:ext cx="3008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an ISS-relevant research problem explorable, not just readable.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2E5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ORBITAL GROVE · MICROGRAVITY SIMULATOR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6012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3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is—and isn't—today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0" cy="0"/>
          </a:xfrm>
          <a:prstGeom prst="line">
            <a:avLst/>
          </a:prstGeom>
          <a:noFill/>
          <a:ln w="12700">
            <a:solidFill>
              <a:srgbClr val="2E5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5349240" cy="4160520"/>
          </a:xfrm>
          <a:prstGeom prst="roundRect">
            <a:avLst>
              <a:gd name="adj" fmla="val 1978"/>
            </a:avLst>
          </a:prstGeom>
          <a:solidFill>
            <a:srgbClr val="10262D"/>
          </a:solidFill>
          <a:ln w="9525">
            <a:solidFill>
              <a:srgbClr val="2E5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574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B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9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F3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space-agriculture datasets remain sparse — yield output is a physics-based estimate, not a validated prediction.</a:t>
            </a:r>
            <a:endParaRPr lang="en-US" sz="1300" dirty="0"/>
          </a:p>
          <a:p>
            <a:pPr marL="177800" indent="-177800">
              <a:lnSpc>
                <a:spcPts val="19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F3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modeling and educational aid, not a substitute for wet-lab or ISS trials.</a:t>
            </a:r>
            <a:endParaRPr lang="en-US" sz="1300" dirty="0"/>
          </a:p>
          <a:p>
            <a:pPr marL="177800" indent="-177800">
              <a:lnSpc>
                <a:spcPts val="19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F3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scoped to 3 crops and 3 growth media as presets.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349240" cy="4160520"/>
          </a:xfrm>
          <a:prstGeom prst="roundRect">
            <a:avLst>
              <a:gd name="adj" fmla="val 1978"/>
            </a:avLst>
          </a:prstGeom>
          <a:solidFill>
            <a:srgbClr val="163740"/>
          </a:solidFill>
          <a:ln w="9525">
            <a:solidFill>
              <a:srgbClr val="2E5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20574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37960" y="242316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9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F3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crop and growth-medium library beyond the current presets.</a:t>
            </a:r>
            <a:endParaRPr lang="en-US" sz="1300" dirty="0"/>
          </a:p>
          <a:p>
            <a:pPr marL="177800" indent="-177800">
              <a:lnSpc>
                <a:spcPts val="19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F3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additional NASA OSDR datasets as they're published, to widen the calibration reference.</a:t>
            </a:r>
            <a:endParaRPr lang="en-US" sz="1300" dirty="0"/>
          </a:p>
          <a:p>
            <a:pPr marL="177800" indent="-177800">
              <a:lnSpc>
                <a:spcPts val="19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F3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partial-gravity behavior for Mars/Moon with mission-specific substrate data.</a:t>
            </a:r>
            <a:endParaRPr lang="en-US" sz="1300" dirty="0"/>
          </a:p>
          <a:p>
            <a:pPr marL="177800" indent="-177800">
              <a:lnSpc>
                <a:spcPts val="19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F3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optional server-side, data-calibrated ML layer once the reference dataset is large enough to justify one.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2E5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ORBITAL GROVE · MICROGRAVITY SIMULATOR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3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Orbital Grove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live, physics-inspired microgravity growth simulator — open it, no install required.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794760"/>
            <a:ext cx="7772400" cy="777240"/>
          </a:xfrm>
          <a:prstGeom prst="roundRect">
            <a:avLst>
              <a:gd name="adj" fmla="val 10588"/>
            </a:avLst>
          </a:prstGeom>
          <a:solidFill>
            <a:srgbClr val="10262D"/>
          </a:solidFill>
          <a:ln w="9525">
            <a:solidFill>
              <a:srgbClr val="2E5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379476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n34s2nvn-5500.inc1.devtunnels.ms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4709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E5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 link · dev tunnel, may rotate — keep a fresh link ready at demo time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326880" y="2103120"/>
            <a:ext cx="2377440" cy="2377440"/>
          </a:xfrm>
          <a:prstGeom prst="ellipse">
            <a:avLst/>
          </a:prstGeom>
          <a:ln w="15875">
            <a:solidFill>
              <a:srgbClr val="2E5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21240" y="2697480"/>
            <a:ext cx="1188720" cy="1188720"/>
          </a:xfrm>
          <a:prstGeom prst="ellipse">
            <a:avLst/>
          </a:prstGeom>
          <a:solidFill>
            <a:srgbClr val="163740"/>
          </a:solidFill>
          <a:ln w="19050">
            <a:solidFill>
              <a:srgbClr val="6EE7B7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2026-08-20T02:28:12Z</dcterms:created>
  <dcterms:modified xsi:type="dcterms:W3CDTF">2026-08-20T02:28:12Z</dcterms:modified>
</cp:coreProperties>
</file>